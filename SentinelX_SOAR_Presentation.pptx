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371600"/>
            <a:ext cx="9966960" cy="3931920"/>
          </a:xfrm>
          <a:prstGeom prst="rect">
            <a:avLst/>
          </a:prstGeom>
          <a:solidFill>
            <a:srgbClr val="0D1426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9966960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0020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SentinelX SOAR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834640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06B6D4"/>
                </a:solidFill>
              </a:rPr>
              <a:t>Security Orchestration  ·  Automation  · 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93008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</a:rPr>
              <a:t>AI-Powered Cybersecurity Platform  |  Version 2.1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5010912"/>
            <a:ext cx="9966960" cy="27432"/>
          </a:xfrm>
          <a:prstGeom prst="rect">
            <a:avLst/>
          </a:prstGeom>
          <a:solidFill>
            <a:srgbClr val="1E2D4A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120640"/>
            <a:ext cx="9966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Next.js 16  ·  React 19  ·  TypeScript 5  ·  Tailwind CSS 4  ·  Framer Motion 12  ·  Recharts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532120"/>
            <a:ext cx="9966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B82F6"/>
                </a:solidFill>
              </a:rPr>
              <a:t>Pure Frontend Application  ·  No Backend Required  ·  100% TypeScript</a:t>
            </a:r>
          </a:p>
        </p:txBody>
      </p:sp>
      <p:sp>
        <p:nvSpPr>
          <p:cNvPr id="10" name="Oval 9"/>
          <p:cNvSpPr/>
          <p:nvPr/>
        </p:nvSpPr>
        <p:spPr>
          <a:xfrm>
            <a:off x="411480" y="1078992"/>
            <a:ext cx="219456" cy="21945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1078992"/>
            <a:ext cx="219456" cy="21945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3000" y="1078992"/>
            <a:ext cx="219456" cy="21945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What is SOAR?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Security Orchestration, Automation &amp; Response — explained simply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87552"/>
            <a:ext cx="11521440" cy="2743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11521440" cy="1481328"/>
          </a:xfrm>
          <a:prstGeom prst="rect">
            <a:avLst/>
          </a:prstGeom>
          <a:solidFill>
            <a:srgbClr val="0D1426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09728" cy="1481328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34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</a:rPr>
              <a:t>S — Security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7335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Alag-alag security tools ko ek jagah connect karna.
13 integrations: Splunk, AWS, VirusTotal, AbuseIPDB, Microsoft Sentinel, Slack, Teams.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770632"/>
            <a:ext cx="11521440" cy="1481328"/>
          </a:xfrm>
          <a:prstGeom prst="rect">
            <a:avLst/>
          </a:prstGeom>
          <a:solidFill>
            <a:srgbClr val="0D142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770632"/>
            <a:ext cx="109728" cy="14813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</a:rPr>
              <a:t>A — 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300984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Threats detect hone pe automatically respond karna — bina human intervention ke.
Playbooks sirf 4.2 seconds mein chalte hain. MTTR 5.2h → 2.9h (44% faster).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398264"/>
            <a:ext cx="11521440" cy="1481328"/>
          </a:xfrm>
          <a:prstGeom prst="rect">
            <a:avLst/>
          </a:prstGeom>
          <a:solidFill>
            <a:srgbClr val="0D1426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4398264"/>
            <a:ext cx="109728" cy="14813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8970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97316"/>
                </a:solidFill>
              </a:rPr>
              <a:t>R —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28616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</a:rPr>
              <a:t>Incidents ka poora lifecycle manage karna: Alert → Incident → Case → Resolved.
Har step ka audit trail, assignee tracking, aur TTD / TTR metrics.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6053328"/>
            <a:ext cx="11521440" cy="502920"/>
          </a:xfrm>
          <a:prstGeom prst="rect">
            <a:avLst/>
          </a:prstGeom>
          <a:solidFill>
            <a:srgbClr val="1A140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10819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9E0B"/>
                </a:solidFill>
              </a:rPr>
              <a:t>💡  Analogy: CCTV control room mein sare cameras ek screen pe dikhtey hain aur alarms automatically bajte hain — SentinelX wahi kaam karta hai, sirf cyber threats ke liye.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Frontend Tech Stack — Complete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Har library kahan use hui — actual code se liya gaya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87552"/>
            <a:ext cx="11521440" cy="2743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15568"/>
            <a:ext cx="5669280" cy="1627632"/>
          </a:xfrm>
          <a:prstGeom prst="rect">
            <a:avLst/>
          </a:prstGeom>
          <a:solidFill>
            <a:srgbClr val="0D1426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2070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</a:rPr>
              <a:t>Next.js 16.2.10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1618488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App Router (app/ directory)
File-based routing
Server + Client components
"use client" directive
next/navigation hooks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115568"/>
            <a:ext cx="5669280" cy="1627632"/>
          </a:xfrm>
          <a:prstGeom prst="rect">
            <a:avLst/>
          </a:prstGeom>
          <a:solidFill>
            <a:srgbClr val="0D1426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1" y="12070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React 19.2.4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1" y="1618488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useState, useEffect, useRef
useRouter, usePathname
AnimatePresence components
ForwardRef patterns
Event handling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871215"/>
            <a:ext cx="5669280" cy="1627632"/>
          </a:xfrm>
          <a:prstGeom prst="rect">
            <a:avLst/>
          </a:prstGeom>
          <a:solidFill>
            <a:srgbClr val="0D1426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96265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5CF6"/>
                </a:solidFill>
              </a:rPr>
              <a:t>TypeScript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3374135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Strict mode enabled
Custom type definitions
Record&lt;string,T&gt; generics
Component prop interfaces
Enum-like type unions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871215"/>
            <a:ext cx="5669280" cy="1627632"/>
          </a:xfrm>
          <a:prstGeom prst="rect">
            <a:avLst/>
          </a:prstGeom>
          <a:solidFill>
            <a:srgbClr val="0D142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1" y="296265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Tailwind CSS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3374135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@import 'tailwindcss'
CSS custom properties
Responsive prefixes (md:,xl:)
Arbitrary values [#111827]
Dark theme utilities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626864"/>
            <a:ext cx="5669280" cy="1627632"/>
          </a:xfrm>
          <a:prstGeom prst="rect">
            <a:avLst/>
          </a:prstGeom>
          <a:solidFill>
            <a:srgbClr val="0D1426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4718303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97316"/>
                </a:solidFill>
              </a:rPr>
              <a:t>Framer Motion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5129783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motion.div, motion.tr
initial / animate / exit
AnimatePresence for modals
whileHover={{ y:-2 }}
transition delay per item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626864"/>
            <a:ext cx="5669280" cy="1627632"/>
          </a:xfrm>
          <a:prstGeom prst="rect">
            <a:avLst/>
          </a:prstGeom>
          <a:solidFill>
            <a:srgbClr val="0D1426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1" y="4718303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</a:rPr>
              <a:t>Recharts 3.9.2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1" y="5129783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AreaChart, BarChart
PieChart, LineChart
RadarChart (MITRE)
ResponsiveContainer
Custom Tooltip styles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Frontend-Only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Is project mein sirf Frontend hai — Backend nahi — aur kyun yeh smart decision hai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87552"/>
            <a:ext cx="11521440" cy="2743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15568"/>
            <a:ext cx="5486400" cy="5413248"/>
          </a:xfrm>
          <a:prstGeom prst="rect">
            <a:avLst/>
          </a:prstGeom>
          <a:solidFill>
            <a:srgbClr val="0D1426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15568"/>
            <a:ext cx="5486400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5272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</a:rPr>
              <a:t>✅  FRONTEND  (Exists)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691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B6D4"/>
                </a:solidFill>
              </a:rPr>
              <a:t>▸ Language: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48" y="16916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</a:rPr>
              <a:t>TypeScript 5 — 100% type-safe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02082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B6D4"/>
                </a:solidFill>
              </a:rPr>
              <a:t>▸ Framework: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202082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</a:rPr>
              <a:t>Next.js 16 with App Router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3500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B6D4"/>
                </a:solidFill>
              </a:rPr>
              <a:t>▸ Rendering: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235000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</a:rPr>
              <a:t>Client-side ('use client' everywhere)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6791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B6D4"/>
                </a:solidFill>
              </a:rPr>
              <a:t>▸ Routing: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2848" y="267919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</a:rPr>
              <a:t>File-based: app/dashboard/alerts/page.tsx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300837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B6D4"/>
                </a:solidFill>
              </a:rPr>
              <a:t>▸ State: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2848" y="300837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</a:rPr>
              <a:t>React useState + useEffect hooks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337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B6D4"/>
                </a:solidFill>
              </a:rPr>
              <a:t>▸ Animation: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2848" y="3337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</a:rPr>
              <a:t>Framer Motion — all page transitions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366674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B6D4"/>
                </a:solidFill>
              </a:rPr>
              <a:t>▸ Charts: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12848" y="366674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</a:rPr>
              <a:t>Recharts — 5 chart types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39959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B6D4"/>
                </a:solidFill>
              </a:rPr>
              <a:t>▸ Icons: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12848" y="399592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</a:rPr>
              <a:t>Lucide React — 27+ icons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43251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B6D4"/>
                </a:solidFill>
              </a:rPr>
              <a:t>▸ Styling: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12848" y="432511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</a:rPr>
              <a:t>Tailwind CSS 4 + Custom CSS classes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465429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B6D4"/>
                </a:solidFill>
              </a:rPr>
              <a:t>▸ Fonts: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12848" y="465429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</a:rPr>
              <a:t>Geist Sans + Geist Mono (Google Fonts)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498347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B6D4"/>
                </a:solidFill>
              </a:rPr>
              <a:t>▸ Auth: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12848" y="498347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</a:rPr>
              <a:t>Frontend-only: DEMO_USERS array in code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531266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B6D4"/>
                </a:solidFill>
              </a:rPr>
              <a:t>▸ Data: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12848" y="531266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</a:rPr>
              <a:t>Hardcoded mock data in each page 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" y="56418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B6D4"/>
                </a:solidFill>
              </a:rPr>
              <a:t>▸ Canvas: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12848" y="56418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</a:rPr>
              <a:t>HTML5 Canvas API — login page background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" y="597103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B6D4"/>
                </a:solidFill>
              </a:rPr>
              <a:t>▸ Build: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12848" y="5971031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</a:rPr>
              <a:t>next build → static pages (21 routes)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53328" y="1115568"/>
            <a:ext cx="5806440" cy="5413248"/>
          </a:xfrm>
          <a:prstGeom prst="rect">
            <a:avLst/>
          </a:prstGeom>
          <a:solidFill>
            <a:srgbClr val="100808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53328" y="1115568"/>
            <a:ext cx="5806440" cy="91440"/>
          </a:xfrm>
          <a:prstGeom prst="rect">
            <a:avLst/>
          </a:prstGeom>
          <a:solidFill>
            <a:srgbClr val="501010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6208" y="125272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</a:rPr>
              <a:t>⚠️  BACKEND  (Not Built)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6208" y="173736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Yeh ek demo/prototype frontend hai.
Real production mein in backend services ki zaroorat hogi: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36208" y="2331720"/>
            <a:ext cx="5394960" cy="347472"/>
          </a:xfrm>
          <a:prstGeom prst="rect">
            <a:avLst/>
          </a:prstGeom>
          <a:solidFill>
            <a:srgbClr val="0A0810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236829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97316"/>
                </a:solidFill>
              </a:rPr>
              <a:t>REST API / GraphQL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236829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Node.js / Python FastAPI / Go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8" y="2752344"/>
            <a:ext cx="5394960" cy="347472"/>
          </a:xfrm>
          <a:prstGeom prst="rect">
            <a:avLst/>
          </a:prstGeom>
          <a:solidFill>
            <a:srgbClr val="0A0810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27889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97316"/>
                </a:solidFill>
              </a:rPr>
              <a:t>Database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278892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PostgreSQL / MongoDB / Redis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36208" y="3172968"/>
            <a:ext cx="5394960" cy="347472"/>
          </a:xfrm>
          <a:prstGeom prst="rect">
            <a:avLst/>
          </a:prstGeom>
          <a:solidFill>
            <a:srgbClr val="0A0810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80" y="320954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97316"/>
                </a:solidFill>
              </a:rPr>
              <a:t>Authentication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49640" y="320954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JWT tokens + OAuth2 + MFA real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36208" y="3593591"/>
            <a:ext cx="5394960" cy="347472"/>
          </a:xfrm>
          <a:prstGeom prst="rect">
            <a:avLst/>
          </a:prstGeom>
          <a:solidFill>
            <a:srgbClr val="0A081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80" y="363016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</a:rPr>
              <a:t>WebSockets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49640" y="363016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Real-time alert streaming (Socket.io)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36208" y="4014215"/>
            <a:ext cx="5394960" cy="347472"/>
          </a:xfrm>
          <a:prstGeom prst="rect">
            <a:avLst/>
          </a:prstGeom>
          <a:solidFill>
            <a:srgbClr val="0A081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55080" y="4050791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</a:rPr>
              <a:t>SIEM Connector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49640" y="4050791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Splunk / Elastic API integration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36208" y="4434840"/>
            <a:ext cx="5394960" cy="347472"/>
          </a:xfrm>
          <a:prstGeom prst="rect">
            <a:avLst/>
          </a:prstGeom>
          <a:solidFill>
            <a:srgbClr val="0A081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55080" y="447141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</a:rPr>
              <a:t>Threat Intel API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49640" y="447141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VirusTotal / AbuseIPDB API calls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36208" y="4855464"/>
            <a:ext cx="5394960" cy="347472"/>
          </a:xfrm>
          <a:prstGeom prst="rect">
            <a:avLst/>
          </a:prstGeom>
          <a:solidFill>
            <a:srgbClr val="0A081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55080" y="48920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</a:rPr>
              <a:t>Cloud APIs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49640" y="48920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AWS GuardDuty / Azure Defender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36208" y="5276088"/>
            <a:ext cx="5394960" cy="347472"/>
          </a:xfrm>
          <a:prstGeom prst="rect">
            <a:avLst/>
          </a:prstGeom>
          <a:solidFill>
            <a:srgbClr val="0A0810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55080" y="531266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5CF6"/>
                </a:solidFill>
              </a:rPr>
              <a:t>AI/LLM Backend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49640" y="531266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OpenAI GPT-4 API integration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36208" y="5696712"/>
            <a:ext cx="5394960" cy="347472"/>
          </a:xfrm>
          <a:prstGeom prst="rect">
            <a:avLst/>
          </a:prstGeom>
          <a:solidFill>
            <a:srgbClr val="0A0810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55080" y="573328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5CF6"/>
                </a:solidFill>
              </a:rPr>
              <a:t>Playbook Engine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49640" y="573328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Automation runner (Airflow/Temporal)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36208" y="6117336"/>
            <a:ext cx="5394960" cy="347472"/>
          </a:xfrm>
          <a:prstGeom prst="rect">
            <a:avLst/>
          </a:prstGeom>
          <a:solidFill>
            <a:srgbClr val="0A081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55080" y="615391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Notification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49640" y="615391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Slack API / Email SMTP / Teams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Code Patterns Used — Real Examples from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Actual code techniques extracted from the project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87552"/>
            <a:ext cx="11521440" cy="2743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15568"/>
            <a:ext cx="2788920" cy="2121408"/>
          </a:xfrm>
          <a:prstGeom prst="rect">
            <a:avLst/>
          </a:prstGeom>
          <a:solidFill>
            <a:srgbClr val="0D1426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15568"/>
            <a:ext cx="2788920" cy="7315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</a:rPr>
              <a:t>'use client' Directive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55648"/>
            <a:ext cx="2514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Every page starts with "use client"
Enables React hooks in Next.js App Router
Client-side rendering for all 15 pages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3552" y="1115568"/>
            <a:ext cx="2788920" cy="2121408"/>
          </a:xfrm>
          <a:prstGeom prst="rect">
            <a:avLst/>
          </a:prstGeom>
          <a:solidFill>
            <a:srgbClr val="0D1426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73552" y="1115568"/>
            <a:ext cx="2788920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0712" y="128016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</a:rPr>
              <a:t>React Hooks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1755648"/>
            <a:ext cx="2514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useState — filters, search, modals, toggles
useEffect — live clock, canvas animation, event listeners
useRef — canvas element, chat scroll bottom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7064" y="1115568"/>
            <a:ext cx="2788920" cy="2121408"/>
          </a:xfrm>
          <a:prstGeom prst="rect">
            <a:avLst/>
          </a:prstGeom>
          <a:solidFill>
            <a:srgbClr val="0D1426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7064" y="1115568"/>
            <a:ext cx="2788920" cy="73152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128016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</a:rPr>
              <a:t>Framer Motion Patterns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1755648"/>
            <a:ext cx="2514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motion.div with initial/animate/exit
AnimatePresence for conditional renders
transition={{ delay: i * 0.04 }} for stagger effect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0576" y="1115568"/>
            <a:ext cx="2788920" cy="2121408"/>
          </a:xfrm>
          <a:prstGeom prst="rect">
            <a:avLst/>
          </a:prstGeom>
          <a:solidFill>
            <a:srgbClr val="0D1426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0576" y="1115568"/>
            <a:ext cx="2788920" cy="7315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17736" y="128016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</a:rPr>
              <a:t>Dynamic Route [id]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7736" y="1755648"/>
            <a:ext cx="2514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app/dashboard/alerts/[id]/page.tsx
params: Promise&lt;{id:string}&gt; (Next.js 15+)
React.use(params) to unwrap the Promise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419856"/>
            <a:ext cx="2788920" cy="2121408"/>
          </a:xfrm>
          <a:prstGeom prst="rect">
            <a:avLst/>
          </a:prstGeom>
          <a:solidFill>
            <a:srgbClr val="0D1426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419856"/>
            <a:ext cx="2788920" cy="73152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58444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5CF6"/>
                </a:solidFill>
              </a:rPr>
              <a:t>Canvas API (Login BG)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059936"/>
            <a:ext cx="2514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useRef&lt;HTMLCanvasElement&gt; for canvas
requestAnimationFrame animation loop
Matrix rain + particles + connection lines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73552" y="3419856"/>
            <a:ext cx="2788920" cy="2121408"/>
          </a:xfrm>
          <a:prstGeom prst="rect">
            <a:avLst/>
          </a:prstGeom>
          <a:solidFill>
            <a:srgbClr val="0D142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3552" y="3419856"/>
            <a:ext cx="2788920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0712" y="358444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TypeScript Generics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10712" y="4059936"/>
            <a:ext cx="2514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Record&lt;string, string&gt; for color maps
Record&lt;string, boolean[]&gt; for RBAC matrix
Custom types: AuthMode, Message, PB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27064" y="3419856"/>
            <a:ext cx="2788920" cy="2121408"/>
          </a:xfrm>
          <a:prstGeom prst="rect">
            <a:avLst/>
          </a:prstGeom>
          <a:solidFill>
            <a:srgbClr val="0D1426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27064" y="3419856"/>
            <a:ext cx="278892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4224" y="358444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</a:rPr>
              <a:t>Recharts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4059936"/>
            <a:ext cx="2514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ResponsiveContainer wraps every chart
Custom Tooltip with dark theme styles
LinearGradient fills for AreaChart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80576" y="3419856"/>
            <a:ext cx="2788920" cy="2121408"/>
          </a:xfrm>
          <a:prstGeom prst="rect">
            <a:avLst/>
          </a:prstGeom>
          <a:solidFill>
            <a:srgbClr val="0D1426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80576" y="3419856"/>
            <a:ext cx="2788920" cy="73152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17736" y="358444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C4899"/>
                </a:solidFill>
              </a:rPr>
              <a:t>CSS Custom Properties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17736" y="4059936"/>
            <a:ext cx="2514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:root variables for all theme colors
.glass class: backdrop-filter blur(20px)
.cyber-grid: CSS linear-gradient bg pattern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Project File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Next.js App Router directory layout — every file explained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87552"/>
            <a:ext cx="11521440" cy="2743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15568"/>
            <a:ext cx="5303520" cy="5413248"/>
          </a:xfrm>
          <a:prstGeom prst="rect">
            <a:avLst/>
          </a:prstGeom>
          <a:solidFill>
            <a:srgbClr val="0D1426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2070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</a:rPr>
              <a:t>📁  frontend/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📁 app/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4251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    📄 layout.tsx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483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</a:rPr>
              <a:t>    📄 globals.css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2714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    📄 page.tsx  (redirect)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6946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    📁 login/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1178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97316"/>
                </a:solidFill>
              </a:rPr>
              <a:t>      📄 page.tsx  ← Auth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5409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    📁 dashboard/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9641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      📄 layout.tsx  ← Sidebar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3872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      📄 page.tsx  ← SOC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8104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F4444"/>
                </a:solidFill>
              </a:rPr>
              <a:t>      📁 alerts/ → page.tsx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2336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97316"/>
                </a:solidFill>
              </a:rPr>
              <a:t>        📁 [id]/ → page.tsx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6567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97316"/>
                </a:solidFill>
              </a:rPr>
              <a:t>      📁 incidents/ → page.tsx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0799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</a:rPr>
              <a:t>      📁 playbooks/ → page.tsx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75030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6B6D4"/>
                </a:solidFill>
              </a:rPr>
              <a:t>      📁 threat-intel/ → page.tsx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9262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F4444"/>
                </a:solidFill>
              </a:rPr>
              <a:t>      📁 attack-map/ → page.tsx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23494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5CF6"/>
                </a:solidFill>
              </a:rPr>
              <a:t>      📁 ai-assistant/ → page.tsx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7725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</a:rPr>
              <a:t>      📁 integrations/ → page.tsx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71957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      📁 reports/ → page.tsx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96188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      📁 + 7 more pages...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06440" y="1115568"/>
            <a:ext cx="6035040" cy="2606040"/>
          </a:xfrm>
          <a:prstGeom prst="rect">
            <a:avLst/>
          </a:prstGeom>
          <a:solidFill>
            <a:srgbClr val="0D142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89320" y="120700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⚙️  Config Files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162763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</a:rPr>
              <a:t>📄 package.json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162763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Dependencies + scripts (dev/build/start/lint)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21031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</a:rPr>
              <a:t>📄 tsconfig.json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10312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TypeScript strict mode, bundler resolution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25786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</a:rPr>
              <a:t>📄 next.config.ts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257860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Next.js config (minimal, default)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05409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📄 eslint.config.mjs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054096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ESLint v9 flat config format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352958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</a:rPr>
              <a:t>📄 postcss.config.mjs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529584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PostCSS for Tailwind CSS processing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06440" y="3886200"/>
            <a:ext cx="6035040" cy="2633472"/>
          </a:xfrm>
          <a:prstGeom prst="rect">
            <a:avLst/>
          </a:prstGeom>
          <a:solidFill>
            <a:srgbClr val="0D1426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89320" y="3977639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</a:rPr>
              <a:t>🔑  Key Patterns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20" y="44074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97316"/>
                </a:solidFill>
              </a:rPr>
              <a:t>▸ No API routes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40740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All data is mock/hardcoded in pages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488289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▸ No _components/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4882896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Components inline inside page files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89320" y="535838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</a:rPr>
              <a:t>▸ No Redux/Zustand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5358384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Local state with useState only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89320" y="583387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</a:rPr>
              <a:t>▸ No .env file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5833872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No secrets — purely client-side demo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89320" y="63093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</a:rPr>
              <a:t>▸ 21 static routes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630936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next build generates all pages static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Platform Architecture — 15 Pages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Complete frontend application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87552"/>
            <a:ext cx="11521440" cy="2743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15568"/>
            <a:ext cx="3749039" cy="1143000"/>
          </a:xfrm>
          <a:prstGeom prst="rect">
            <a:avLst/>
          </a:prstGeom>
          <a:solidFill>
            <a:srgbClr val="0D1426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15568"/>
            <a:ext cx="3749039" cy="73152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</a:rPr>
              <a:t>🔐 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9928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Auth · MFA · OAuth</a:t>
            </a:r>
          </a:p>
        </p:txBody>
      </p:sp>
      <p:sp>
        <p:nvSpPr>
          <p:cNvPr id="9" name="Rectangle 8"/>
          <p:cNvSpPr/>
          <p:nvPr/>
        </p:nvSpPr>
        <p:spPr>
          <a:xfrm>
            <a:off x="4224528" y="1115568"/>
            <a:ext cx="3749039" cy="1143000"/>
          </a:xfrm>
          <a:prstGeom prst="rect">
            <a:avLst/>
          </a:prstGeom>
          <a:solidFill>
            <a:srgbClr val="0D1426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24528" y="1115568"/>
            <a:ext cx="3749039" cy="7315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1688" y="12801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</a:rPr>
              <a:t>📊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1709928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SOC Overview · 5 Charts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115568"/>
            <a:ext cx="3749039" cy="1143000"/>
          </a:xfrm>
          <a:prstGeom prst="rect">
            <a:avLst/>
          </a:prstGeom>
          <a:solidFill>
            <a:srgbClr val="0D1426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115568"/>
            <a:ext cx="3749039" cy="7315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2801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</a:rPr>
              <a:t>🚨 Alerts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709928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Alert Management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423160"/>
            <a:ext cx="3749039" cy="1143000"/>
          </a:xfrm>
          <a:prstGeom prst="rect">
            <a:avLst/>
          </a:prstGeom>
          <a:solidFill>
            <a:srgbClr val="0D1426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423160"/>
            <a:ext cx="3749039" cy="73152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58775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</a:rPr>
              <a:t>🔍 Alert Detail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01752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Dynamic Route [id]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24528" y="2423160"/>
            <a:ext cx="3749039" cy="1143000"/>
          </a:xfrm>
          <a:prstGeom prst="rect">
            <a:avLst/>
          </a:prstGeom>
          <a:solidFill>
            <a:srgbClr val="0D1426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24528" y="2423160"/>
            <a:ext cx="3749039" cy="73152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61688" y="258775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7316"/>
                </a:solidFill>
              </a:rPr>
              <a:t>⚡ Incidents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301752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Incident Lifecycle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2423160"/>
            <a:ext cx="3749039" cy="1143000"/>
          </a:xfrm>
          <a:prstGeom prst="rect">
            <a:avLst/>
          </a:prstGeom>
          <a:solidFill>
            <a:srgbClr val="0D142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2423160"/>
            <a:ext cx="3749039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258775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📖 Playbooks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01752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Builder &amp; Runner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730752"/>
            <a:ext cx="3749039" cy="1143000"/>
          </a:xfrm>
          <a:prstGeom prst="rect">
            <a:avLst/>
          </a:prstGeom>
          <a:solidFill>
            <a:srgbClr val="0D1426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3730752"/>
            <a:ext cx="3749039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89534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</a:rPr>
              <a:t>🌐 Threat Intel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32511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IOC Lookup · 6 Feeds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24528" y="3730752"/>
            <a:ext cx="3749039" cy="1143000"/>
          </a:xfrm>
          <a:prstGeom prst="rect">
            <a:avLst/>
          </a:prstGeom>
          <a:solidFill>
            <a:srgbClr val="0D1426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24528" y="3730752"/>
            <a:ext cx="3749039" cy="7315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1688" y="389534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</a:rPr>
              <a:t>🗺 Attack Map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61688" y="432511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Global SVG Visualization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3730752"/>
            <a:ext cx="3749039" cy="1143000"/>
          </a:xfrm>
          <a:prstGeom prst="rect">
            <a:avLst/>
          </a:prstGeom>
          <a:solidFill>
            <a:srgbClr val="0D1426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38160" y="3730752"/>
            <a:ext cx="3749039" cy="73152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20" y="389534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</a:rPr>
              <a:t>🤖 AI Assistant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432511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GPT-4 Chat Interface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029200"/>
            <a:ext cx="3749039" cy="1143000"/>
          </a:xfrm>
          <a:prstGeom prst="rect">
            <a:avLst/>
          </a:prstGeom>
          <a:solidFill>
            <a:srgbClr val="0D142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" y="5029200"/>
            <a:ext cx="3749039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19379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🔌 Integrations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62356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13 Tool Connectors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24528" y="5029200"/>
            <a:ext cx="3749039" cy="1143000"/>
          </a:xfrm>
          <a:prstGeom prst="rect">
            <a:avLst/>
          </a:prstGeom>
          <a:solidFill>
            <a:srgbClr val="0D1426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24528" y="5029200"/>
            <a:ext cx="3749039" cy="7315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61688" y="519379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</a:rPr>
              <a:t>📈 Reports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61688" y="562356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Analytics &amp; KPIs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38160" y="5029200"/>
            <a:ext cx="3749039" cy="1143000"/>
          </a:xfrm>
          <a:prstGeom prst="rect">
            <a:avLst/>
          </a:prstGeom>
          <a:solidFill>
            <a:srgbClr val="0D1426"/>
          </a:solidFill>
          <a:ln w="254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38160" y="5029200"/>
            <a:ext cx="3749039" cy="73152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75320" y="519379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</a:rPr>
              <a:t>⚙ Settings/More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20" y="562356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Users·RBAC·Audit·Profile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SOC Overview — Main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Real-time security posture — the heart of the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87552"/>
            <a:ext cx="11521440" cy="2743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15568"/>
            <a:ext cx="1810512" cy="1097280"/>
          </a:xfrm>
          <a:prstGeom prst="rect">
            <a:avLst/>
          </a:prstGeom>
          <a:solidFill>
            <a:srgbClr val="0D1426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207008"/>
            <a:ext cx="16642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F4444"/>
                </a:solidFill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719072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Critical Alerts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9424" y="1115568"/>
            <a:ext cx="1810512" cy="1097280"/>
          </a:xfrm>
          <a:prstGeom prst="rect">
            <a:avLst/>
          </a:prstGeom>
          <a:solidFill>
            <a:srgbClr val="0D1426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22576" y="1207008"/>
            <a:ext cx="16642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97316"/>
                </a:solidFill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719072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Open Incidents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78807" y="1115568"/>
            <a:ext cx="1810512" cy="1097280"/>
          </a:xfrm>
          <a:prstGeom prst="rect">
            <a:avLst/>
          </a:prstGeom>
          <a:solidFill>
            <a:srgbClr val="0D1426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59" y="1207008"/>
            <a:ext cx="16642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</a:rPr>
              <a:t>78/100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1719072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Risk Score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08192" y="1115568"/>
            <a:ext cx="1810512" cy="1097280"/>
          </a:xfrm>
          <a:prstGeom prst="rect">
            <a:avLst/>
          </a:prstGeom>
          <a:solidFill>
            <a:srgbClr val="0D1426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1344" y="1207008"/>
            <a:ext cx="16642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B5CF6"/>
                </a:solidFill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1344" y="1719072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Threat Level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7575" y="1115568"/>
            <a:ext cx="1810512" cy="1097280"/>
          </a:xfrm>
          <a:prstGeom prst="rect">
            <a:avLst/>
          </a:prstGeom>
          <a:solidFill>
            <a:srgbClr val="0D142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0727" y="1207008"/>
            <a:ext cx="16642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</a:rPr>
              <a:t>Active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7" y="1719072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Firewall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59" y="1115568"/>
            <a:ext cx="1810512" cy="1097280"/>
          </a:xfrm>
          <a:prstGeom prst="rect">
            <a:avLst/>
          </a:prstGeom>
          <a:solidFill>
            <a:srgbClr val="0D1426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40111" y="1207008"/>
            <a:ext cx="16642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6B6D4"/>
                </a:solidFill>
              </a:rPr>
              <a:t>Online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0111" y="1719072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Cloud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395728"/>
            <a:ext cx="3657600" cy="1554480"/>
          </a:xfrm>
          <a:prstGeom prst="rect">
            <a:avLst/>
          </a:prstGeom>
          <a:solidFill>
            <a:srgbClr val="0D142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2487168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</a:rPr>
              <a:t>📈  Alert Trends
(AreaChart)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3054096"/>
            <a:ext cx="343814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</a:rPr>
              <a:t>24h alert volume
Critical·High·Medium
Gradient fills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2395728"/>
            <a:ext cx="3657600" cy="1554480"/>
          </a:xfrm>
          <a:prstGeom prst="rect">
            <a:avLst/>
          </a:prstGeom>
          <a:solidFill>
            <a:srgbClr val="0D142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70248" y="2487168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F4444"/>
                </a:solidFill>
              </a:rPr>
              <a:t>🥧  Threat Types
(PieChart)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0248" y="3054096"/>
            <a:ext cx="343814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</a:rPr>
              <a:t>Brute Force 35%
Malware 28%
Phishing 22%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2395728"/>
            <a:ext cx="3867912" cy="1554480"/>
          </a:xfrm>
          <a:prstGeom prst="rect">
            <a:avLst/>
          </a:prstGeom>
          <a:solidFill>
            <a:srgbClr val="0D14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0727" y="2487168"/>
            <a:ext cx="36484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</a:rPr>
              <a:t>📡  MITRE ATT&amp;CK
(RadarChart)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0727" y="3054096"/>
            <a:ext cx="364845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</a:rPr>
              <a:t>6 domains coverage
Endpoint·Network
Cloud·Identity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133087"/>
            <a:ext cx="3657600" cy="2194560"/>
          </a:xfrm>
          <a:prstGeom prst="rect">
            <a:avLst/>
          </a:prstGeom>
          <a:solidFill>
            <a:srgbClr val="0D14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" y="4224527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</a:rPr>
              <a:t>📊  SOC Performance
(BarChart)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" y="4791455"/>
            <a:ext cx="3438144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</a:rPr>
              <a:t>MTTR vs Incidents
Day-by-day bars
Weekly trend view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60520" y="4133087"/>
            <a:ext cx="3657600" cy="2194560"/>
          </a:xfrm>
          <a:prstGeom prst="rect">
            <a:avLst/>
          </a:prstGeom>
          <a:solidFill>
            <a:srgbClr val="0D1426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70248" y="4224527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97316"/>
                </a:solidFill>
              </a:rPr>
              <a:t>🔴  Live Alerts
Table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70248" y="4791455"/>
            <a:ext cx="3438144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</a:rPr>
              <a:t>Source IP, type
Country, confidence
Investigate button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01000" y="4133087"/>
            <a:ext cx="3867912" cy="2194560"/>
          </a:xfrm>
          <a:prstGeom prst="rect">
            <a:avLst/>
          </a:prstGeom>
          <a:solidFill>
            <a:srgbClr val="0D14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10727" y="4224527"/>
            <a:ext cx="36484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</a:rPr>
              <a:t>🔮  AI Prediction
Banner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10727" y="4791455"/>
            <a:ext cx="3648456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</a:rPr>
              <a:t>73% confidence
Ransomware in 6h
Playbook on standby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Alerts &amp; Incidents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Detect → Triage → Investigate → Resolve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87552"/>
            <a:ext cx="11521440" cy="2743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15568"/>
            <a:ext cx="5623560" cy="5376672"/>
          </a:xfrm>
          <a:prstGeom prst="rect">
            <a:avLst/>
          </a:prstGeom>
          <a:solidFill>
            <a:srgbClr val="0D1426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15568"/>
            <a:ext cx="5623560" cy="7315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4444"/>
                </a:solidFill>
              </a:rPr>
              <a:t>🚨  Alerts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71907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</a:rPr>
              <a:t>▸ Severity Filters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8608" y="171907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Critical / High / Medium / 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26771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</a:rPr>
              <a:t>▸ Status Filters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8608" y="226771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Open · Investigating · Resolved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81635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</a:rPr>
              <a:t>▸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281635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By Alert ID, attack type, IP, hostname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364991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</a:rPr>
              <a:t>▸ Bulk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8608" y="3364991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Close All / Create Incident / Run Playbook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3913631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</a:rPr>
              <a:t>▸ CSV Export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8608" y="3913631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Download as spreadsheet (Blob API)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446227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</a:rPr>
              <a:t>▸ Confidence Bar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8608" y="446227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Visual progress bar per alert (0-100%)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501091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</a:rPr>
              <a:t>▸ Row 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78608" y="501091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👁 View Detail   🛡 Mark Resolved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555955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</a:rPr>
              <a:t>▸ AI Auto-tag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78608" y="555955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⚡ Lightning icon for auto-detected alerts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115568"/>
            <a:ext cx="5742432" cy="5376672"/>
          </a:xfrm>
          <a:prstGeom prst="rect">
            <a:avLst/>
          </a:prstGeom>
          <a:solidFill>
            <a:srgbClr val="0D1426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1115568"/>
            <a:ext cx="5742432" cy="73152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12344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</a:rPr>
              <a:t>⚡  Incidents Page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91072" y="1691640"/>
            <a:ext cx="5413248" cy="777240"/>
          </a:xfrm>
          <a:prstGeom prst="rect">
            <a:avLst/>
          </a:prstGeom>
          <a:solidFill>
            <a:srgbClr val="0A0F1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174650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</a:rPr>
              <a:t>INC-2024-0892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1746504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F4444"/>
                </a:solidFill>
              </a:rPr>
              <a:t>ACTIVE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1031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</a:rPr>
              <a:t>Ransomware — WRK-042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91072" y="2606040"/>
            <a:ext cx="5413248" cy="777240"/>
          </a:xfrm>
          <a:prstGeom prst="rect">
            <a:avLst/>
          </a:prstGeom>
          <a:solidFill>
            <a:srgbClr val="0A0F1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2512" y="266090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</a:rPr>
              <a:t>INC-2024-0891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2660904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</a:rPr>
              <a:t>INVESTIGATING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30175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</a:rPr>
              <a:t>Data Exfil — SRV-DB-01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91072" y="3520440"/>
            <a:ext cx="5413248" cy="777240"/>
          </a:xfrm>
          <a:prstGeom prst="rect">
            <a:avLst/>
          </a:prstGeom>
          <a:solidFill>
            <a:srgbClr val="0A0F1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82512" y="357530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</a:rPr>
              <a:t>INC-2024-0890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3575304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</a:rPr>
              <a:t>INVESTIGATING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39319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</a:rPr>
              <a:t>Brute Force — DC-01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91072" y="4434840"/>
            <a:ext cx="5413248" cy="777240"/>
          </a:xfrm>
          <a:prstGeom prst="rect">
            <a:avLst/>
          </a:prstGeom>
          <a:solidFill>
            <a:srgbClr val="0A0F1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82512" y="4489703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</a:rPr>
              <a:t>INC-2024-0889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4489703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</a:rPr>
              <a:t>CONTAINED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48463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</a:rPr>
              <a:t>Phishing — Finance Team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91072" y="5349240"/>
            <a:ext cx="5413248" cy="777240"/>
          </a:xfrm>
          <a:prstGeom prst="rect">
            <a:avLst/>
          </a:prstGeom>
          <a:solidFill>
            <a:srgbClr val="0A0F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82512" y="5404103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</a:rPr>
              <a:t>INC-2024-0888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5404103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RESOLVED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82512" y="57607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</a:rPr>
              <a:t>Malware C2 — WRK-018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91072" y="64008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TTD · TTR · MTTR avg: 3.4h  ·  Assignee  ·  Alert count per incident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Playbook Builder &amp;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Pre-written response scripts — execute in 4.2 seconds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87552"/>
            <a:ext cx="11521440" cy="2743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15568"/>
            <a:ext cx="2743200" cy="804672"/>
          </a:xfrm>
          <a:prstGeom prst="rect">
            <a:avLst/>
          </a:prstGeom>
          <a:solidFill>
            <a:srgbClr val="0D1426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161288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B82F6"/>
                </a:solidFill>
              </a:rPr>
              <a:t>143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554480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Runs/24h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115568"/>
            <a:ext cx="2743200" cy="804672"/>
          </a:xfrm>
          <a:prstGeom prst="rect">
            <a:avLst/>
          </a:prstGeom>
          <a:solidFill>
            <a:srgbClr val="0D142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0128" y="1161288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</a:rPr>
              <a:t>95.8%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0128" y="1554480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Avg Success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59" y="1115568"/>
            <a:ext cx="2743200" cy="804672"/>
          </a:xfrm>
          <a:prstGeom prst="rect">
            <a:avLst/>
          </a:prstGeom>
          <a:solidFill>
            <a:srgbClr val="0D1426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0488" y="1161288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6B6D4"/>
                </a:solidFill>
              </a:rPr>
              <a:t>4.2s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1554480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Response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19" y="1115568"/>
            <a:ext cx="2743200" cy="804672"/>
          </a:xfrm>
          <a:prstGeom prst="rect">
            <a:avLst/>
          </a:prstGeom>
          <a:solidFill>
            <a:srgbClr val="0D1426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7" y="1161288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B5CF6"/>
                </a:solidFill>
              </a:rPr>
              <a:t>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847" y="1554480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Contained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103120"/>
            <a:ext cx="3749039" cy="1664208"/>
          </a:xfrm>
          <a:prstGeom prst="rect">
            <a:avLst/>
          </a:prstGeom>
          <a:solidFill>
            <a:srgbClr val="0D1426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1945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</a:rPr>
              <a:t>PB-0034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2194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AUTO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5603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</a:rPr>
              <a:t>Ransomware Containment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017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47 runs · 96% · 8 steps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4015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B82F6"/>
                </a:solidFill>
              </a:rPr>
              <a:t>▶ Run  ⏸ Pause  ✏ Edit  📋 Copy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9392" y="2103120"/>
            <a:ext cx="3749039" cy="1664208"/>
          </a:xfrm>
          <a:prstGeom prst="rect">
            <a:avLst/>
          </a:prstGeom>
          <a:solidFill>
            <a:srgbClr val="0D1426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16552" y="21945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</a:rPr>
              <a:t>PB-0033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8272" y="2194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AUTO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25603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</a:rPr>
              <a:t>Brute Force Response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6552" y="3017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213 runs · 98% · 5 steps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6552" y="34015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B82F6"/>
                </a:solidFill>
              </a:rPr>
              <a:t>▶ Run  ⏸ Pause  ✏ Edit  📋 Copy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38744" y="2103120"/>
            <a:ext cx="3749039" cy="1664208"/>
          </a:xfrm>
          <a:prstGeom prst="rect">
            <a:avLst/>
          </a:prstGeom>
          <a:solidFill>
            <a:srgbClr val="0D1426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75904" y="21945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</a:rPr>
              <a:t>PB-0032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07624" y="2194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</a:rPr>
              <a:t>MANUAL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5904" y="25603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Phishing Triage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5904" y="3017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89 runs  · 92% · 6 steps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75904" y="34015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B82F6"/>
                </a:solidFill>
              </a:rPr>
              <a:t>▶ Run  ⏸ Pause  ✏ Edit  📋 Copy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931920"/>
            <a:ext cx="3749039" cy="1664208"/>
          </a:xfrm>
          <a:prstGeom prst="rect">
            <a:avLst/>
          </a:prstGeom>
          <a:solidFill>
            <a:srgbClr val="0D142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023359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</a:rPr>
              <a:t>PB-0031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88920" y="40233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</a:rPr>
              <a:t>AUTO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3891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Malware C2 Block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846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31 runs  · 100% · 4 steps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2303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B82F6"/>
                </a:solidFill>
              </a:rPr>
              <a:t>▶ Run  ⏸ Pause  ✏ Edit  📋 Copy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79392" y="3931920"/>
            <a:ext cx="3749039" cy="1664208"/>
          </a:xfrm>
          <a:prstGeom prst="rect">
            <a:avLst/>
          </a:prstGeom>
          <a:solidFill>
            <a:srgbClr val="0D1426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16552" y="4023359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</a:rPr>
              <a:t>AI-001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48272" y="40233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5CF6"/>
                </a:solidFill>
              </a:rPr>
              <a:t>AI+AUTO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16552" y="43891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</a:rPr>
              <a:t>AI: Supply Chain Attack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16552" y="4846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3 runs   · 100% · 12 steps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16552" y="52303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B82F6"/>
                </a:solidFill>
              </a:rPr>
              <a:t>▶ Run  ⏸ Pause  ✏ Edit  📋 Copy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38744" y="3931920"/>
            <a:ext cx="3749039" cy="1664208"/>
          </a:xfrm>
          <a:prstGeom prst="rect">
            <a:avLst/>
          </a:prstGeom>
          <a:solidFill>
            <a:srgbClr val="0D1426"/>
          </a:solidFill>
          <a:ln w="254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75904" y="4023359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</a:rPr>
              <a:t>PB-0030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07624" y="40233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</a:rPr>
              <a:t>PAUSED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75904" y="43891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</a:rPr>
              <a:t>DDoS Mitigation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75904" y="4846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7 runs   · 85% · 7 steps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75904" y="52303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B82F6"/>
                </a:solidFill>
              </a:rPr>
              <a:t>▶ Run  ⏸ Pause  ✏ Edit  📋 Copy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40" y="598932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</a:rPr>
              <a:t>➕ New Playbook  ·  🤖 AI Generate (one-click)  ·  Spinner on run  ·  ✔ Success confirm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Threat Intelligence &amp; Global Attack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IOC enrichment + worldwide attack visualization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87552"/>
            <a:ext cx="11521440" cy="2743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15568"/>
            <a:ext cx="5623560" cy="5376672"/>
          </a:xfrm>
          <a:prstGeom prst="rect">
            <a:avLst/>
          </a:prstGeom>
          <a:solidFill>
            <a:srgbClr val="0D1426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15568"/>
            <a:ext cx="5623560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2344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B6D4"/>
                </a:solidFill>
              </a:rPr>
              <a:t>🌐  Threat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737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IOC Lookup — Enter IP/domain/hash: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084831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→ Malicious score, tags &amp; feed results instantly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4688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6 Active Feeds: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03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</a:rPr>
              <a:t>✅ VirusTotal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88036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1,247 IOCs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7413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</a:rPr>
              <a:t>✅ AbuseIPDB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37413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3,891 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6791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</a:rPr>
              <a:t>✅ AlienVault OTX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86791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892 feeds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3616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9E0B"/>
                </a:solidFill>
              </a:rPr>
              <a:t>🔄 Mandiant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36168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Syncing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85546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F4444"/>
                </a:solidFill>
              </a:rPr>
              <a:t>❌ Recorded Future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85546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92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</a:rPr>
              <a:t>✅ MISP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534924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456 IOCs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58521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Total: 6,720 indicators  ·  Auto-sync every 5 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115568"/>
            <a:ext cx="5742432" cy="5376672"/>
          </a:xfrm>
          <a:prstGeom prst="rect">
            <a:avLst/>
          </a:prstGeom>
          <a:solidFill>
            <a:srgbClr val="0D1426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1115568"/>
            <a:ext cx="5742432" cy="7315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12344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4444"/>
                </a:solidFill>
              </a:rPr>
              <a:t>🗺  Global Attack 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17373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SVG animated world map — live attack lines: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91072" y="2148840"/>
            <a:ext cx="5394960" cy="530352"/>
          </a:xfrm>
          <a:prstGeom prst="rect">
            <a:avLst/>
          </a:prstGeom>
          <a:solidFill>
            <a:srgbClr val="0A0F1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2037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F4444"/>
                </a:solidFill>
              </a:rPr>
              <a:t>Moscow, RU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20370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</a:rPr>
              <a:t>→ New York, 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22037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Ransomware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91072" y="2743200"/>
            <a:ext cx="5394960" cy="530352"/>
          </a:xfrm>
          <a:prstGeom prst="rect">
            <a:avLst/>
          </a:prstGeom>
          <a:solidFill>
            <a:srgbClr val="0A0F1E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7980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97316"/>
                </a:solidFill>
              </a:rPr>
              <a:t>Beijing, CN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79806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</a:rPr>
              <a:t>→ London, UK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279806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APT Attack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91072" y="3337560"/>
            <a:ext cx="5394960" cy="530352"/>
          </a:xfrm>
          <a:prstGeom prst="rect">
            <a:avLst/>
          </a:prstGeom>
          <a:solidFill>
            <a:srgbClr val="0A0F1E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3924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97316"/>
                </a:solidFill>
              </a:rPr>
              <a:t>Tehran, IR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39242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</a:rPr>
              <a:t>→ Berlin, 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339242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Brute Force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91072" y="3931920"/>
            <a:ext cx="5394960" cy="530352"/>
          </a:xfrm>
          <a:prstGeom prst="rect">
            <a:avLst/>
          </a:prstGeom>
          <a:solidFill>
            <a:srgbClr val="0A0F1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39867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F4444"/>
                </a:solidFill>
              </a:rPr>
              <a:t>Pyongyang, KP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398678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</a:rPr>
              <a:t>→ Seoul, KR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398678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Data Exfil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91072" y="4526280"/>
            <a:ext cx="5394960" cy="530352"/>
          </a:xfrm>
          <a:prstGeom prst="rect">
            <a:avLst/>
          </a:prstGeom>
          <a:solidFill>
            <a:srgbClr val="0A0F1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45811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</a:rPr>
              <a:t>Lagos, 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458114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</a:rPr>
              <a:t>→ Paris, FR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458114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Phishing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91072" y="5120640"/>
            <a:ext cx="5394960" cy="530352"/>
          </a:xfrm>
          <a:prstGeom prst="rect">
            <a:avLst/>
          </a:prstGeom>
          <a:solidFill>
            <a:srgbClr val="0A0F1E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517550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</a:rPr>
              <a:t>Minsk, BY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5175503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</a:rPr>
              <a:t>→ Warsaw, PL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0" y="5175503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Port Scan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91072" y="583387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Top attackers: Russia 1,247  China 983  Iran 542  N.Korea 321
Live counter every 2s · Click target for detail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AI Security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GPT-4 Security Fine-tuned — intelligent SOC analyst chatbot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87552"/>
            <a:ext cx="11521440" cy="2743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15568"/>
            <a:ext cx="7223760" cy="5376672"/>
          </a:xfrm>
          <a:prstGeom prst="rect">
            <a:avLst/>
          </a:prstGeom>
          <a:solidFill>
            <a:srgbClr val="0D1426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5CF6"/>
                </a:solidFill>
              </a:rPr>
              <a:t>💬  Chat Interface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19072"/>
            <a:ext cx="6858000" cy="804672"/>
          </a:xfrm>
          <a:prstGeom prst="rect">
            <a:avLst/>
          </a:prstGeom>
          <a:solidFill>
            <a:srgbClr val="0A14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92224"/>
            <a:ext cx="6583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You: Analyze IP 192.168.1.45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633472"/>
            <a:ext cx="6858000" cy="804672"/>
          </a:xfrm>
          <a:prstGeom prst="rect">
            <a:avLst/>
          </a:prstGeom>
          <a:solidFill>
            <a:srgbClr val="120A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06624"/>
            <a:ext cx="6583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🤖 AI: Score 98/100 — MALICIOUS
       Tags: ransomware · c2 · brute-force
       Detected by: AbuseIPDB, VirusTotal, AlienVault OTX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547872"/>
            <a:ext cx="6858000" cy="804672"/>
          </a:xfrm>
          <a:prstGeom prst="rect">
            <a:avLst/>
          </a:prstGeom>
          <a:solidFill>
            <a:srgbClr val="0A14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621024"/>
            <a:ext cx="6583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You: Generate ransomware containment playbook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462272"/>
            <a:ext cx="6858000" cy="804672"/>
          </a:xfrm>
          <a:prstGeom prst="rect">
            <a:avLst/>
          </a:prstGeom>
          <a:solidFill>
            <a:srgbClr val="120A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35424"/>
            <a:ext cx="6583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🤖 AI: YAML Playbook Generated (96% confidence):
       1.isolate_host  2.snapshot_disk  3.kill_process
       4.block_ip  5.notify_slack  6.create_incident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45896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Quick Prompts: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779008"/>
            <a:ext cx="1325880" cy="274320"/>
          </a:xfrm>
          <a:prstGeom prst="rect">
            <a:avLst/>
          </a:prstGeom>
          <a:solidFill>
            <a:srgbClr val="0A183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797296"/>
            <a:ext cx="12161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B82F6"/>
                </a:solidFill>
              </a:rPr>
              <a:t>Summarize critical incidents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92808" y="5779008"/>
            <a:ext cx="1325880" cy="274320"/>
          </a:xfrm>
          <a:prstGeom prst="rect">
            <a:avLst/>
          </a:prstGeom>
          <a:solidFill>
            <a:srgbClr val="0A183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56816" y="5797296"/>
            <a:ext cx="12161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B82F6"/>
                </a:solidFill>
              </a:rPr>
              <a:t>Threat level?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82696" y="5779008"/>
            <a:ext cx="1325880" cy="274320"/>
          </a:xfrm>
          <a:prstGeom prst="rect">
            <a:avLst/>
          </a:prstGeom>
          <a:solidFill>
            <a:srgbClr val="0A183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46703" y="5797296"/>
            <a:ext cx="12161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B82F6"/>
                </a:solidFill>
              </a:rPr>
              <a:t>Predict 24h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72584" y="5779008"/>
            <a:ext cx="1325880" cy="274320"/>
          </a:xfrm>
          <a:prstGeom prst="rect">
            <a:avLst/>
          </a:prstGeom>
          <a:solidFill>
            <a:srgbClr val="0A183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6592" y="5797296"/>
            <a:ext cx="12161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B82F6"/>
                </a:solidFill>
              </a:rPr>
              <a:t>Risk score?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62472" y="5779008"/>
            <a:ext cx="1325880" cy="274320"/>
          </a:xfrm>
          <a:prstGeom prst="rect">
            <a:avLst/>
          </a:prstGeom>
          <a:solidFill>
            <a:srgbClr val="0A183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5797296"/>
            <a:ext cx="12161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B82F6"/>
                </a:solidFill>
              </a:rPr>
              <a:t>IOC analysis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79" y="1115568"/>
            <a:ext cx="4142232" cy="5376672"/>
          </a:xfrm>
          <a:prstGeom prst="rect">
            <a:avLst/>
          </a:prstGeom>
          <a:solidFill>
            <a:srgbClr val="0D1426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9560" y="12344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5CF6"/>
                </a:solidFill>
              </a:rPr>
              <a:t>🧠  AI Capabilities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09560" y="1719072"/>
            <a:ext cx="3749039" cy="685800"/>
          </a:xfrm>
          <a:prstGeom prst="rect">
            <a:avLst/>
          </a:prstGeom>
          <a:solidFill>
            <a:srgbClr val="0A0F1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65008" y="177393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F4444"/>
                </a:solidFill>
              </a:rPr>
              <a:t>📋 Incident Summary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008" y="210312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AI analysis of all alerts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09560" y="2505456"/>
            <a:ext cx="3749039" cy="685800"/>
          </a:xfrm>
          <a:prstGeom prst="rect">
            <a:avLst/>
          </a:prstGeom>
          <a:solidFill>
            <a:srgbClr val="0A0F1E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65008" y="256032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97316"/>
                </a:solidFill>
              </a:rPr>
              <a:t>📈 Threat Prediction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65008" y="2889503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ML-based 24h forecasting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09560" y="3291839"/>
            <a:ext cx="3749039" cy="685800"/>
          </a:xfrm>
          <a:prstGeom prst="rect">
            <a:avLst/>
          </a:prstGeom>
          <a:solidFill>
            <a:srgbClr val="0A0F1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65008" y="3346703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🛡 Risk Scoring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65008" y="3675887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Dynamic 0-100 score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09560" y="4078224"/>
            <a:ext cx="3749039" cy="685800"/>
          </a:xfrm>
          <a:prstGeom prst="rect">
            <a:avLst/>
          </a:prstGeom>
          <a:solidFill>
            <a:srgbClr val="0A0F1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65008" y="4133087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</a:rPr>
              <a:t>📖 Playbook Generator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65008" y="446227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Auto-generate YAML scripts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864608"/>
            <a:ext cx="3749039" cy="685800"/>
          </a:xfrm>
          <a:prstGeom prst="rect">
            <a:avLst/>
          </a:prstGeom>
          <a:solidFill>
            <a:srgbClr val="0A0F1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65008" y="491947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</a:rPr>
              <a:t>🔍 Root Cause Analysis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65008" y="524865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Identify attack chain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09560" y="5650992"/>
            <a:ext cx="3749039" cy="685800"/>
          </a:xfrm>
          <a:prstGeom prst="rect">
            <a:avLst/>
          </a:prstGeom>
          <a:solidFill>
            <a:srgbClr val="0A0F1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65008" y="5705855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</a:rPr>
              <a:t>✨ IOC Enrichment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65008" y="60350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AI context for indicators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Integrations — 13 Connected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SIEM · Threat Intel · Cloud · Notifications — one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87552"/>
            <a:ext cx="11521440" cy="2743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15568"/>
            <a:ext cx="2743200" cy="4572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16128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SIEM / Log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91640"/>
            <a:ext cx="2743200" cy="1051560"/>
          </a:xfrm>
          <a:prstGeom prst="rect">
            <a:avLst/>
          </a:prstGeom>
          <a:solidFill>
            <a:srgbClr val="0D14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78308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🔵 Splunk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194560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12,847 events/hr · 12ms</a:t>
            </a:r>
          </a:p>
        </p:txBody>
      </p:sp>
      <p:sp>
        <p:nvSpPr>
          <p:cNvPr id="10" name="Oval 9"/>
          <p:cNvSpPr/>
          <p:nvPr/>
        </p:nvSpPr>
        <p:spPr>
          <a:xfrm>
            <a:off x="2697480" y="1801368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880360"/>
            <a:ext cx="2743200" cy="1051560"/>
          </a:xfrm>
          <a:prstGeom prst="rect">
            <a:avLst/>
          </a:prstGeom>
          <a:solidFill>
            <a:srgbClr val="0D14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297180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🟦 MS Sentinel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3383280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8,234 events/hr · 45ms</a:t>
            </a:r>
          </a:p>
        </p:txBody>
      </p:sp>
      <p:sp>
        <p:nvSpPr>
          <p:cNvPr id="14" name="Oval 13"/>
          <p:cNvSpPr/>
          <p:nvPr/>
        </p:nvSpPr>
        <p:spPr>
          <a:xfrm>
            <a:off x="2697480" y="2990088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069080"/>
            <a:ext cx="2743200" cy="1051560"/>
          </a:xfrm>
          <a:prstGeom prst="rect">
            <a:avLst/>
          </a:prstGeom>
          <a:solidFill>
            <a:srgbClr val="0D14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416052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🔶 Wazuh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4572000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3,421 events/hr · 8ms</a:t>
            </a:r>
          </a:p>
        </p:txBody>
      </p:sp>
      <p:sp>
        <p:nvSpPr>
          <p:cNvPr id="18" name="Oval 17"/>
          <p:cNvSpPr/>
          <p:nvPr/>
        </p:nvSpPr>
        <p:spPr>
          <a:xfrm>
            <a:off x="2697480" y="4178808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5257800"/>
            <a:ext cx="2743200" cy="1051560"/>
          </a:xfrm>
          <a:prstGeom prst="rect">
            <a:avLst/>
          </a:prstGeom>
          <a:solidFill>
            <a:srgbClr val="0D142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🟡 Elastic SIEM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5760720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Connection Error</a:t>
            </a:r>
          </a:p>
        </p:txBody>
      </p:sp>
      <p:sp>
        <p:nvSpPr>
          <p:cNvPr id="22" name="Oval 21"/>
          <p:cNvSpPr/>
          <p:nvPr/>
        </p:nvSpPr>
        <p:spPr>
          <a:xfrm>
            <a:off x="2697480" y="5367528"/>
            <a:ext cx="201168" cy="20116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54680" y="1115568"/>
            <a:ext cx="2743200" cy="4572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6120" y="116128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Threat Intelligence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54680" y="1691640"/>
            <a:ext cx="2743200" cy="1051560"/>
          </a:xfrm>
          <a:prstGeom prst="rect">
            <a:avLst/>
          </a:prstGeom>
          <a:solidFill>
            <a:srgbClr val="0D14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64408" y="178308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🔴 VirusTotal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64408" y="2194560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1,247 IOCs · 180ms</a:t>
            </a:r>
          </a:p>
        </p:txBody>
      </p:sp>
      <p:sp>
        <p:nvSpPr>
          <p:cNvPr id="28" name="Oval 27"/>
          <p:cNvSpPr/>
          <p:nvPr/>
        </p:nvSpPr>
        <p:spPr>
          <a:xfrm>
            <a:off x="5532120" y="1801368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54680" y="2880360"/>
            <a:ext cx="2743200" cy="1051560"/>
          </a:xfrm>
          <a:prstGeom prst="rect">
            <a:avLst/>
          </a:prstGeom>
          <a:solidFill>
            <a:srgbClr val="0D14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64408" y="297180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🟠 AbuseIPDB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64408" y="3383280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3,891 IPs · 95ms</a:t>
            </a:r>
          </a:p>
        </p:txBody>
      </p:sp>
      <p:sp>
        <p:nvSpPr>
          <p:cNvPr id="32" name="Oval 31"/>
          <p:cNvSpPr/>
          <p:nvPr/>
        </p:nvSpPr>
        <p:spPr>
          <a:xfrm>
            <a:off x="5532120" y="2990088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54680" y="4069080"/>
            <a:ext cx="2743200" cy="1051560"/>
          </a:xfrm>
          <a:prstGeom prst="rect">
            <a:avLst/>
          </a:prstGeom>
          <a:solidFill>
            <a:srgbClr val="0D14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64408" y="416052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🟢 AlienVault OTX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64408" y="4572000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892 feeds · Syncing</a:t>
            </a:r>
          </a:p>
        </p:txBody>
      </p:sp>
      <p:sp>
        <p:nvSpPr>
          <p:cNvPr id="36" name="Oval 35"/>
          <p:cNvSpPr/>
          <p:nvPr/>
        </p:nvSpPr>
        <p:spPr>
          <a:xfrm>
            <a:off x="5532120" y="4178808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89320" y="1115568"/>
            <a:ext cx="2743200" cy="4572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59" y="116128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Cloud Platforms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89320" y="1691640"/>
            <a:ext cx="2743200" cy="1051560"/>
          </a:xfrm>
          <a:prstGeom prst="rect">
            <a:avLst/>
          </a:prstGeom>
          <a:solidFill>
            <a:srgbClr val="0D14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8" y="178308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🟧 Amazon AWS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9048" y="2194560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GuardDuty + Security Hub</a:t>
            </a:r>
          </a:p>
        </p:txBody>
      </p:sp>
      <p:sp>
        <p:nvSpPr>
          <p:cNvPr id="42" name="Oval 41"/>
          <p:cNvSpPr/>
          <p:nvPr/>
        </p:nvSpPr>
        <p:spPr>
          <a:xfrm>
            <a:off x="8366760" y="1801368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89320" y="2880360"/>
            <a:ext cx="2743200" cy="1051560"/>
          </a:xfrm>
          <a:prstGeom prst="rect">
            <a:avLst/>
          </a:prstGeom>
          <a:solidFill>
            <a:srgbClr val="0D14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99048" y="297180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🔷 Azure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9048" y="3383280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Defender for Cloud</a:t>
            </a:r>
          </a:p>
        </p:txBody>
      </p:sp>
      <p:sp>
        <p:nvSpPr>
          <p:cNvPr id="46" name="Oval 45"/>
          <p:cNvSpPr/>
          <p:nvPr/>
        </p:nvSpPr>
        <p:spPr>
          <a:xfrm>
            <a:off x="8366760" y="2990088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989320" y="4069080"/>
            <a:ext cx="2743200" cy="1051560"/>
          </a:xfrm>
          <a:prstGeom prst="rect">
            <a:avLst/>
          </a:prstGeom>
          <a:solidFill>
            <a:srgbClr val="0D142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99048" y="416052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🔴 Google Cloud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9048" y="4572000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Disconnected</a:t>
            </a:r>
          </a:p>
        </p:txBody>
      </p:sp>
      <p:sp>
        <p:nvSpPr>
          <p:cNvPr id="50" name="Oval 49"/>
          <p:cNvSpPr/>
          <p:nvPr/>
        </p:nvSpPr>
        <p:spPr>
          <a:xfrm>
            <a:off x="8366760" y="4178808"/>
            <a:ext cx="201168" cy="20116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823960" y="1115568"/>
            <a:ext cx="2743200" cy="4572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15400" y="116128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Notifications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23960" y="1691640"/>
            <a:ext cx="2743200" cy="1051560"/>
          </a:xfrm>
          <a:prstGeom prst="rect">
            <a:avLst/>
          </a:prstGeom>
          <a:solidFill>
            <a:srgbClr val="0D14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33688" y="178308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🟣 Slack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33688" y="2194560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#soc-critical · 23ms</a:t>
            </a:r>
          </a:p>
        </p:txBody>
      </p:sp>
      <p:sp>
        <p:nvSpPr>
          <p:cNvPr id="56" name="Oval 55"/>
          <p:cNvSpPr/>
          <p:nvPr/>
        </p:nvSpPr>
        <p:spPr>
          <a:xfrm>
            <a:off x="11201400" y="1801368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823960" y="2880360"/>
            <a:ext cx="2743200" cy="1051560"/>
          </a:xfrm>
          <a:prstGeom prst="rect">
            <a:avLst/>
          </a:prstGeom>
          <a:solidFill>
            <a:srgbClr val="0D14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33688" y="297180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🔵 MS Teams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33688" y="3383280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#security · 34ms</a:t>
            </a:r>
          </a:p>
        </p:txBody>
      </p:sp>
      <p:sp>
        <p:nvSpPr>
          <p:cNvPr id="60" name="Oval 59"/>
          <p:cNvSpPr/>
          <p:nvPr/>
        </p:nvSpPr>
        <p:spPr>
          <a:xfrm>
            <a:off x="11201400" y="2990088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823960" y="4069080"/>
            <a:ext cx="2743200" cy="1051560"/>
          </a:xfrm>
          <a:prstGeom prst="rect">
            <a:avLst/>
          </a:prstGeom>
          <a:solidFill>
            <a:srgbClr val="0D14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33688" y="4160520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📧 Email SMTP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33688" y="4572000"/>
            <a:ext cx="25237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security@company.com</a:t>
            </a:r>
          </a:p>
        </p:txBody>
      </p:sp>
      <p:sp>
        <p:nvSpPr>
          <p:cNvPr id="64" name="Oval 63"/>
          <p:cNvSpPr/>
          <p:nvPr/>
        </p:nvSpPr>
        <p:spPr>
          <a:xfrm>
            <a:off x="11201400" y="4178808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20040" y="6053328"/>
            <a:ext cx="11521440" cy="457200"/>
          </a:xfrm>
          <a:prstGeom prst="rect">
            <a:avLst/>
          </a:prstGeom>
          <a:solidFill>
            <a:srgbClr val="07120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" y="612648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</a:rPr>
              <a:t>✅ 10/13 connected · 1 syncing · 2 need attention | Test Connection + Configure buttons | 26,000+ events/hour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Reports &amp;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KPIs, charts, executive summaries — PDF exportable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87552"/>
            <a:ext cx="11521440" cy="2743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15568"/>
            <a:ext cx="2743200" cy="1325880"/>
          </a:xfrm>
          <a:prstGeom prst="rect">
            <a:avLst/>
          </a:prstGeom>
          <a:solidFill>
            <a:srgbClr val="0D1426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F4444"/>
                </a:solidFill>
              </a:rPr>
              <a:t>331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5564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Total Alerts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F4444"/>
                </a:solidFill>
              </a:rPr>
              <a:t>+12%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115568"/>
            <a:ext cx="2743200" cy="1325880"/>
          </a:xfrm>
          <a:prstGeom prst="rect">
            <a:avLst/>
          </a:prstGeom>
          <a:solidFill>
            <a:srgbClr val="0D142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188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0B981"/>
                </a:solidFill>
              </a:rPr>
              <a:t>3.4h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5564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MTTR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03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0B981"/>
                </a:solidFill>
              </a:rPr>
              <a:t>-18%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59" y="1115568"/>
            <a:ext cx="2743200" cy="1325880"/>
          </a:xfrm>
          <a:prstGeom prst="rect">
            <a:avLst/>
          </a:prstGeom>
          <a:solidFill>
            <a:srgbClr val="0D142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188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0B981"/>
                </a:solidFill>
              </a:rPr>
              <a:t>4.2%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75564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False Positive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103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0B981"/>
                </a:solidFill>
              </a:rPr>
              <a:t>-2.1%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19" y="1115568"/>
            <a:ext cx="2743200" cy="1325880"/>
          </a:xfrm>
          <a:prstGeom prst="rect">
            <a:avLst/>
          </a:prstGeom>
          <a:solidFill>
            <a:srgbClr val="0D1426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1188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8B5CF6"/>
                </a:solidFill>
              </a:rPr>
              <a:t>73%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75564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Auto-Resolved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103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F4444"/>
                </a:solidFill>
              </a:rPr>
              <a:t>+8%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633472"/>
            <a:ext cx="5623560" cy="1920240"/>
          </a:xfrm>
          <a:prstGeom prst="rect">
            <a:avLst/>
          </a:prstGeom>
          <a:solidFill>
            <a:srgbClr val="0D142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74320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</a:rPr>
              <a:t>📊 Weekly Alert Volume
(BarChart)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73552"/>
            <a:ext cx="534924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Alerts/Incidents/Resolved
Blue·Red·Green bars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633472"/>
            <a:ext cx="5742432" cy="1920240"/>
          </a:xfrm>
          <a:prstGeom prst="rect">
            <a:avLst/>
          </a:prstGeom>
          <a:solidFill>
            <a:srgbClr val="0D1426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743200"/>
            <a:ext cx="5468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</a:rPr>
              <a:t>🥧 Threat Breakdown
(PieChart)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273552"/>
            <a:ext cx="546811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Brute Force 35%
Malware 28% · Phishing 22%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736592"/>
            <a:ext cx="5623560" cy="1783080"/>
          </a:xfrm>
          <a:prstGeom prst="rect">
            <a:avLst/>
          </a:prstGeom>
          <a:solidFill>
            <a:srgbClr val="0D14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84632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📈 MTTR Trend
(LineChart)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376672"/>
            <a:ext cx="5349240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5.2h → 2.9h improvement
6-week downward trend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4736592"/>
            <a:ext cx="5742432" cy="1783080"/>
          </a:xfrm>
          <a:prstGeom prst="rect">
            <a:avLst/>
          </a:prstGeom>
          <a:solidFill>
            <a:srgbClr val="0D14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4846320"/>
            <a:ext cx="5468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</a:rPr>
              <a:t>🏢 Executive Summary
(Progress bars)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5376672"/>
            <a:ext cx="5468112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Patch 87% · Endpoint 94%
Cloud 91% · Identity 78%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Real Problems SentinelX Solves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Before vs After — tangible impact for SOC teams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87552"/>
            <a:ext cx="11521440" cy="2743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15568"/>
            <a:ext cx="2743200" cy="1664208"/>
          </a:xfrm>
          <a:prstGeom prst="rect">
            <a:avLst/>
          </a:prstGeom>
          <a:solidFill>
            <a:srgbClr val="180808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</a:rPr>
              <a:t>❌ Alert Fatigue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19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Hazaron alerts manually
check — time waste, errors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755648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80" y="1115568"/>
            <a:ext cx="2514600" cy="1664208"/>
          </a:xfrm>
          <a:prstGeom prst="rect">
            <a:avLst/>
          </a:prstGeom>
          <a:solidFill>
            <a:srgbClr val="06120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1316736"/>
            <a:ext cx="2286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✅ AI prioritizes + confidence
Bulk resolve at once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115568"/>
            <a:ext cx="2743200" cy="1664208"/>
          </a:xfrm>
          <a:prstGeom prst="rect">
            <a:avLst/>
          </a:prstGeom>
          <a:solidFill>
            <a:srgbClr val="180808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0700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</a:rPr>
              <a:t>❌ Slow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19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Manually: IP block, notify
team, log — ghante lagte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59" y="1755648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55480" y="1115568"/>
            <a:ext cx="2514600" cy="1664208"/>
          </a:xfrm>
          <a:prstGeom prst="rect">
            <a:avLst/>
          </a:prstGeom>
          <a:solidFill>
            <a:srgbClr val="06120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1316736"/>
            <a:ext cx="2286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✅ Playbooks in 4.2 seconds
MTTR improved 44%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944368"/>
            <a:ext cx="2743200" cy="1664208"/>
          </a:xfrm>
          <a:prstGeom prst="rect">
            <a:avLst/>
          </a:prstGeom>
          <a:solidFill>
            <a:srgbClr val="180808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03580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❌ Scattered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747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VirusTotal alag, Splunk alag
AWS alag — context switch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584448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11880" y="2944368"/>
            <a:ext cx="2514600" cy="1664208"/>
          </a:xfrm>
          <a:prstGeom prst="rect">
            <a:avLst/>
          </a:prstGeom>
          <a:solidFill>
            <a:srgbClr val="06120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39" y="3145536"/>
            <a:ext cx="2286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✅ 13 tools ek jagah
One screen only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944368"/>
            <a:ext cx="2743200" cy="1664208"/>
          </a:xfrm>
          <a:prstGeom prst="rect">
            <a:avLst/>
          </a:prstGeom>
          <a:solidFill>
            <a:srgbClr val="180808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03580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</a:rPr>
              <a:t>❌ No Visibility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4747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Logs mein manually search
country identify karo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59" y="3584448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55480" y="2944368"/>
            <a:ext cx="2514600" cy="1664208"/>
          </a:xfrm>
          <a:prstGeom prst="rect">
            <a:avLst/>
          </a:prstGeom>
          <a:solidFill>
            <a:srgbClr val="06120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3145536"/>
            <a:ext cx="2286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✅ Attack Map visual
IOC Lookup instant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773168"/>
            <a:ext cx="2743200" cy="1664208"/>
          </a:xfrm>
          <a:prstGeom prst="rect">
            <a:avLst/>
          </a:prstGeom>
          <a:solidFill>
            <a:srgbClr val="180808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864607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</a:rPr>
              <a:t>❌ No Intelligence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3035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Raw log data — attack ki
story samajh nahi aati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5413248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11880" y="4773168"/>
            <a:ext cx="2514600" cy="1664208"/>
          </a:xfrm>
          <a:prstGeom prst="rect">
            <a:avLst/>
          </a:prstGeom>
          <a:solidFill>
            <a:srgbClr val="06120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39" y="4974336"/>
            <a:ext cx="2286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✅ AI predicts 24h ahead
Root cause + playbook gen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4773168"/>
            <a:ext cx="2743200" cy="1664208"/>
          </a:xfrm>
          <a:prstGeom prst="rect">
            <a:avLst/>
          </a:prstGeom>
          <a:solidFill>
            <a:srgbClr val="180808"/>
          </a:solidFill>
          <a:ln w="254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864607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</a:rPr>
              <a:t>❌ No Accountability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3035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Kaun ne kya kiya track
karna mushkil tha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59" y="5413248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55480" y="4773168"/>
            <a:ext cx="2514600" cy="1664208"/>
          </a:xfrm>
          <a:prstGeom prst="rect">
            <a:avLst/>
          </a:prstGeom>
          <a:solidFill>
            <a:srgbClr val="06120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92640" y="4974336"/>
            <a:ext cx="2286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✅ Full Audit Logs + RBAC
PDF reports management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UI / UX Design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Professional cyber aesthetic for real SOC analysts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87552"/>
            <a:ext cx="11521440" cy="2743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15568"/>
            <a:ext cx="2788920" cy="2121408"/>
          </a:xfrm>
          <a:prstGeom prst="rect">
            <a:avLst/>
          </a:prstGeom>
          <a:solidFill>
            <a:srgbClr val="0D1426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15568"/>
            <a:ext cx="2788920" cy="7315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</a:rPr>
              <a:t>🎨 Dark Cyber Theme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73936"/>
            <a:ext cx="2514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#0a0f1e navy background
#111827 card surfaces
Blue/cyan accent palette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3552" y="1115568"/>
            <a:ext cx="2788920" cy="2121408"/>
          </a:xfrm>
          <a:prstGeom prst="rect">
            <a:avLst/>
          </a:prstGeom>
          <a:solidFill>
            <a:srgbClr val="0D1426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73552" y="1115568"/>
            <a:ext cx="2788920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0712" y="1298448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</a:rPr>
              <a:t>✨ Glassmorphism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1773936"/>
            <a:ext cx="2514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backdrop-filter: blur(20px)
Semi-transparent cards
Frosted glass layering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7064" y="3419856"/>
            <a:ext cx="2788920" cy="2121408"/>
          </a:xfrm>
          <a:prstGeom prst="rect">
            <a:avLst/>
          </a:prstGeom>
          <a:solidFill>
            <a:srgbClr val="0D1426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7064" y="3419856"/>
            <a:ext cx="2788920" cy="73152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3602736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</a:rPr>
              <a:t>🌐 Cyber Grid BG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4078224"/>
            <a:ext cx="2514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CSS linear-gradient grid
Subtle blue lines (0.03 opacity)
Hacker terminal look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0576" y="3419856"/>
            <a:ext cx="2788920" cy="2121408"/>
          </a:xfrm>
          <a:prstGeom prst="rect">
            <a:avLst/>
          </a:prstGeom>
          <a:solidFill>
            <a:srgbClr val="0D1426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0576" y="3419856"/>
            <a:ext cx="2788920" cy="73152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17736" y="3602736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</a:rPr>
              <a:t>⚡ Framer Motion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7736" y="4078224"/>
            <a:ext cx="2514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motion.div fade+slide in
Hover lift translateY(-2px)
AnimatePresence modals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724144"/>
            <a:ext cx="2788920" cy="2121408"/>
          </a:xfrm>
          <a:prstGeom prst="rect">
            <a:avLst/>
          </a:prstGeom>
          <a:solidFill>
            <a:srgbClr val="0D1426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5724144"/>
            <a:ext cx="2788920" cy="7315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907024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</a:rPr>
              <a:t>🔴 Live Indicators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382512"/>
            <a:ext cx="2514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Pulsing red — critical alert
Green dot — system online
Spinner — async loading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73552" y="5724144"/>
            <a:ext cx="2788920" cy="2121408"/>
          </a:xfrm>
          <a:prstGeom prst="rect">
            <a:avLst/>
          </a:prstGeom>
          <a:solidFill>
            <a:srgbClr val="0D142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3552" y="5724144"/>
            <a:ext cx="2788920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0712" y="5907024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📱 Mobile Responsive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10712" y="6382512"/>
            <a:ext cx="2514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Hamburger + slide overlay
md: xl: responsive classes
Full touch support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27064" y="8028432"/>
            <a:ext cx="2788920" cy="2121408"/>
          </a:xfrm>
          <a:prstGeom prst="rect">
            <a:avLst/>
          </a:prstGeom>
          <a:solidFill>
            <a:srgbClr val="0D1426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27064" y="8028432"/>
            <a:ext cx="278892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4224" y="821131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🔤 Typography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8686800"/>
            <a:ext cx="2514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Geist Sans — UI body text
Geist Mono — IPs, IDs, codes
Weight + size hierarchy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80576" y="8028432"/>
            <a:ext cx="2788920" cy="2121408"/>
          </a:xfrm>
          <a:prstGeom prst="rect">
            <a:avLst/>
          </a:prstGeom>
          <a:solidFill>
            <a:srgbClr val="0D1426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80576" y="8028432"/>
            <a:ext cx="2788920" cy="73152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17736" y="821131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</a:rPr>
              <a:t>🎭 Color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17736" y="8686800"/>
            <a:ext cx="2514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Red=danger  Green=safe
Blue=info   Purple=AI
Yellow=warning  Cyan=data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Live Demo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8 steps — 8-12 minutes on localhost:3000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87552"/>
            <a:ext cx="11521440" cy="2743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15568"/>
            <a:ext cx="5669280" cy="1170432"/>
          </a:xfrm>
          <a:prstGeom prst="rect">
            <a:avLst/>
          </a:prstGeom>
          <a:solidFill>
            <a:srgbClr val="0D1426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35607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20700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5CF6"/>
                </a:solidFill>
              </a:rPr>
              <a:t>Login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645919"/>
            <a:ext cx="4754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Matrix background animation
demo@demo.com / demo123 → MFA 123456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115568"/>
            <a:ext cx="5669280" cy="1170432"/>
          </a:xfrm>
          <a:prstGeom prst="rect">
            <a:avLst/>
          </a:prstGeom>
          <a:solidFill>
            <a:srgbClr val="0D1426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0" y="1435607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79" y="120700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</a:rPr>
              <a:t>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79" y="1645919"/>
            <a:ext cx="4754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'Ek screen pe poori company ki security'
6 stats + 5 live charts + AI banner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414015"/>
            <a:ext cx="5669280" cy="1170432"/>
          </a:xfrm>
          <a:prstGeom prst="rect">
            <a:avLst/>
          </a:prstGeom>
          <a:solidFill>
            <a:srgbClr val="0D1426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2734056"/>
            <a:ext cx="502920" cy="5029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761487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50545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</a:rPr>
              <a:t>Alert Detail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944368"/>
            <a:ext cx="4754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Click any alert → detail page
Automated response log: IP block, isolate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414015"/>
            <a:ext cx="5669280" cy="1170432"/>
          </a:xfrm>
          <a:prstGeom prst="rect">
            <a:avLst/>
          </a:prstGeom>
          <a:solidFill>
            <a:srgbClr val="0D142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0" y="2734056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761487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79" y="250545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Playbooks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79" y="2944368"/>
            <a:ext cx="4754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Run button click → spinner → ✔ checkmark
'4.2 seconds mein response — no human!'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712463"/>
            <a:ext cx="5669280" cy="1170432"/>
          </a:xfrm>
          <a:prstGeom prst="rect">
            <a:avLst/>
          </a:prstGeom>
          <a:solidFill>
            <a:srgbClr val="0D1426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7200" y="4032503"/>
            <a:ext cx="502920" cy="5029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059935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3803903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</a:rPr>
              <a:t>Attack 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242816"/>
            <a:ext cx="4754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'Russia se New York pe attack LIVE'
Click pulsing dot → see detail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712463"/>
            <a:ext cx="5669280" cy="1170432"/>
          </a:xfrm>
          <a:prstGeom prst="rect">
            <a:avLst/>
          </a:prstGeom>
          <a:solidFill>
            <a:srgbClr val="0D1426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0" y="4032503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059935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79" y="3803903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5CF6"/>
                </a:solidFill>
              </a:rPr>
              <a:t>AI Assistant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79" y="4242816"/>
            <a:ext cx="4754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Type: 'Analyze IP 192.168.1.45'
AI → 98/100, tags, YAML playbook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010912"/>
            <a:ext cx="5669280" cy="1170432"/>
          </a:xfrm>
          <a:prstGeom prst="rect">
            <a:avLst/>
          </a:prstGeom>
          <a:solidFill>
            <a:srgbClr val="0D1426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7200" y="5330951"/>
            <a:ext cx="502920" cy="5029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358383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102351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Integrations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5541264"/>
            <a:ext cx="4754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'13 tools ek jagah connected'
Test Connection button demo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5010912"/>
            <a:ext cx="5669280" cy="1170432"/>
          </a:xfrm>
          <a:prstGeom prst="rect">
            <a:avLst/>
          </a:prstGeom>
          <a:solidFill>
            <a:srgbClr val="0D1426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5330951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5358383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79" y="5102351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97316"/>
                </a:solidFill>
              </a:rPr>
              <a:t>Reports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79" y="5541264"/>
            <a:ext cx="4754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MTTR 44% better over 6 weeks
Export PDF button highlight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6400800"/>
            <a:ext cx="11521440" cy="347472"/>
          </a:xfrm>
          <a:prstGeom prst="rect">
            <a:avLst/>
          </a:prstGeom>
          <a:solidFill>
            <a:srgbClr val="0D1426"/>
          </a:solidFill>
          <a:ln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437376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⏱ 8-12 min demo  ·  npm run dev  ·  http://localhost:3000  ·  demo@demo.com / demo123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280160"/>
            <a:ext cx="9445752" cy="4572000"/>
          </a:xfrm>
          <a:prstGeom prst="rect">
            <a:avLst/>
          </a:prstGeom>
          <a:solidFill>
            <a:srgbClr val="0D1426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280160"/>
            <a:ext cx="9445752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08760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0604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6B6D4"/>
                </a:solidFill>
              </a:rPr>
              <a:t>SentinelX SOAR — AI-Powered Cybersecurity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445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E8F0"/>
                </a:solidFill>
              </a:rPr>
              <a:t>✅  18 Slides  ·  15 Pages  ·  13 Integrations  ·  5 Chart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67328"/>
            <a:ext cx="9445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E8F0"/>
                </a:solidFill>
              </a:rPr>
              <a:t>✅  Next.js 16  ·  React 19  ·  TypeScript  ·  Tailwind 4  ·  Framer Motion  ·  Recharts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42816"/>
            <a:ext cx="9445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E8F0"/>
                </a:solidFill>
              </a:rPr>
              <a:t>✅  100% Frontend  ·  Pure TypeScript  ·  21 Static Routes  ·  Zero Backend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5029200"/>
            <a:ext cx="9445752" cy="502920"/>
          </a:xfrm>
          <a:prstGeom prst="rect">
            <a:avLst/>
          </a:prstGeom>
          <a:solidFill>
            <a:srgbClr val="0F0D24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093208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B5CF6"/>
                </a:solidFill>
              </a:rPr>
              <a:t>🤖  Powered by GPT-4 Security AI  ·  Built for modern SOC teams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897880"/>
            <a:ext cx="9445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Run: cd frontend &amp;&amp; npm run dev  →  http://localhost:3000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